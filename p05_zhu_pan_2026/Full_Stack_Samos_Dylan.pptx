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6858000" cy="9144000"/>
  <p:embeddedFontLst>
    <p:embeddedFont>
      <p:font typeface="Nunito"/>
      <p:regular r:id="rId25"/>
    </p:embeddedFont>
    <p:embeddedFont>
      <p:font typeface="Calibri" panose="020F0502020204030204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747775"/>
          </p15:clr>
        </p15:guide>
        <p15:guide id="2" pos="290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1"/>
        <p:guide pos="290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fb79ce0a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fb79ce0a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fb79ce0aa_2_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fb79ce0aa_2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fb79ce0aa_2_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fb79ce0aa_2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fb79ce0aa_2_2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fb79ce0aa_2_2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fb79ce0aa_2_2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fb79ce0aa_2_2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fb79ce0aa_2_2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fb79ce0aa_2_2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fb79ce0aa_2_2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fb79ce0aa_2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fb79ce0aa_5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fb79ce0aa_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fb79ce0aa_5_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fb79ce0aa_5_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fb79ce0aa_2_2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fb79ce0aa_2_2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fb79ce0aa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fb79ce0aa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fb79ce0aa_3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fb79ce0aa_3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fb79ce0aa_3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fb79ce0aa_3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fb79ce0aa_3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fb79ce0aa_3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b79ce0aa_3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b79ce0aa_3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fb79ce0aa_3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fb79ce0aa_3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fb79ce0aa_3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fb79ce0aa_3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fb79ce0aa_3_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fb79ce0aa_3_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accent6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3"/>
        </a:solidFill>
        <a:effectLst/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bg>
      <p:bgPr>
        <a:solidFill>
          <a:schemeClr val="dk2"/>
        </a:solidFill>
        <a:effectLst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bg>
      <p:bgPr>
        <a:solidFill>
          <a:schemeClr val="dk2"/>
        </a:soli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dk2"/>
        </a:solidFill>
        <a:effectLst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10"/>
          <p:cNvSpPr txBox="1"/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9" name="Google Shape;119;p11"/>
          <p:cNvSpPr txBox="1"/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 panose="020F0502020204030204"/>
              <a:buChar char="●"/>
              <a:defRPr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●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○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 panose="020F0502020204030204"/>
              <a:buChar char="■"/>
              <a:defRPr sz="11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hyperlink" Target="http://dodo.p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16250" y="877750"/>
            <a:ext cx="7111500" cy="17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Can ChatGPT Forecast Stock Price Movements? Return Predictability and Large Language Model </a:t>
            </a:r>
            <a:endParaRPr sz="2500"/>
          </a:p>
        </p:txBody>
      </p:sp>
      <p:sp>
        <p:nvSpPr>
          <p:cNvPr id="129" name="Google Shape;129;p13"/>
          <p:cNvSpPr txBox="1"/>
          <p:nvPr>
            <p:ph type="subTitle" idx="1"/>
          </p:nvPr>
        </p:nvSpPr>
        <p:spPr>
          <a:xfrm>
            <a:off x="5076450" y="2872850"/>
            <a:ext cx="34425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</a:rPr>
              <a:t>Samos (Yiguang) Zhu, Dylan (Langxuan) Pan</a:t>
            </a:r>
            <a:endParaRPr sz="1300">
              <a:solidFill>
                <a:srgbClr val="000000"/>
              </a:solidFill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12700" y="2645050"/>
            <a:ext cx="2788550" cy="8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1205025" y="535600"/>
            <a:ext cx="29751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</a:t>
            </a:r>
            <a:endParaRPr lang="en-GB"/>
          </a:p>
        </p:txBody>
      </p:sp>
      <p:sp>
        <p:nvSpPr>
          <p:cNvPr id="136" name="Google Shape;136;p14"/>
          <p:cNvSpPr txBox="1"/>
          <p:nvPr>
            <p:ph type="body" idx="1"/>
          </p:nvPr>
        </p:nvSpPr>
        <p:spPr>
          <a:xfrm>
            <a:off x="1079050" y="1437500"/>
            <a:ext cx="7481400" cy="2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Workflow (</a:t>
            </a:r>
            <a:r>
              <a:rPr lang="en-GB" sz="1500">
                <a:uFill>
                  <a:noFill/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dodo.py</a:t>
            </a: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)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Collection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Cleaning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ChatGPT Sentiment Labeling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Exploration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Portfolio Construction (Table 1)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Strategy Evaluation (Figure 5)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Reproduce Results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 Report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/>
              <a:buAutoNum type="arabicPeriod"/>
            </a:pPr>
            <a:r>
              <a:rPr lang="en-GB" sz="1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Success and Difficulties</a:t>
            </a:r>
            <a:endParaRPr sz="1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114500" y="402675"/>
            <a:ext cx="2485475" cy="24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722250" y="522750"/>
            <a:ext cx="5757900" cy="7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Introduction </a:t>
            </a:r>
            <a:endParaRPr lang="en-GB"/>
          </a:p>
        </p:txBody>
      </p:sp>
      <p:sp>
        <p:nvSpPr>
          <p:cNvPr id="143" name="Google Shape;143;p15"/>
          <p:cNvSpPr txBox="1"/>
          <p:nvPr>
            <p:ph type="body" idx="1"/>
          </p:nvPr>
        </p:nvSpPr>
        <p:spPr>
          <a:xfrm>
            <a:off x="722250" y="1259250"/>
            <a:ext cx="8387700" cy="39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Background</a:t>
            </a: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  <a:endParaRPr sz="15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Investigate whether ChatGPT can predict stock price movements using news headlines.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 LLM to classify news sentiment (positive / neutral / negative).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Construct long–short portfolios based on sentiment signals.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Evaluate return predictability and portfolio performance.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Goal: </a:t>
            </a:r>
            <a:endParaRPr sz="15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Replicate tables and figures from the paper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Reproduce the results using newest data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Apply methods learned in this course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Char char="-"/>
            </a:pPr>
            <a:r>
              <a:rPr lang="en-GB" sz="1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 collaboration and communication skills</a:t>
            </a: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/>
          </a:p>
        </p:txBody>
      </p:sp>
      <p:pic>
        <p:nvPicPr>
          <p:cNvPr id="144" name="Google Shape;144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261900" y="2397075"/>
            <a:ext cx="2440826" cy="244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448125" y="3723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</a:t>
            </a:r>
            <a:r>
              <a:rPr lang="en-GB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Workflow (dodo.py)</a:t>
            </a:r>
            <a:endParaRPr lang="en-GB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17600" y="1326925"/>
            <a:ext cx="39585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Collection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(CRSP + RavenPack + TAQ)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ChatGPT Sentiment Labeling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Portfolio Construction (Table 1)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Strategy Evaluation (Figure 5)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Reproduce Results (2021–2025)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↓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Report</a:t>
            </a:r>
            <a:endParaRPr lang="en-GB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276725" y="1326925"/>
            <a:ext cx="3810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4049080" y="3409696"/>
            <a:ext cx="5106000" cy="10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Contributions:</a:t>
            </a: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Samos: </a:t>
            </a:r>
            <a:r>
              <a:rPr lang="en-GB" sz="1200"/>
              <a:t>Data Collection, Data Cleaning, ChatGPT Sentiment </a:t>
            </a:r>
            <a:r>
              <a:rPr lang="en-GB" sz="1200"/>
              <a:t>Labeling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Dylan: </a:t>
            </a:r>
            <a:r>
              <a:rPr lang="en-GB" sz="1200"/>
              <a:t>Portfolio Construction, Strategy Evaluation, Report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Collaboration:</a:t>
            </a:r>
            <a:r>
              <a:rPr lang="en-GB" sz="1200"/>
              <a:t> Data Collection, Reproduce Results, Report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62775" y="293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</a:t>
            </a:r>
            <a:r>
              <a:rPr lang="en-GB"/>
              <a:t>Data Collection </a:t>
            </a:r>
            <a:endParaRPr lang="en-GB"/>
          </a:p>
        </p:txBody>
      </p:sp>
      <p:sp>
        <p:nvSpPr>
          <p:cNvPr id="158" name="Google Shape;158;p17"/>
          <p:cNvSpPr txBox="1"/>
          <p:nvPr/>
        </p:nvSpPr>
        <p:spPr>
          <a:xfrm>
            <a:off x="959485" y="877570"/>
            <a:ext cx="3611880" cy="339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src/pull_CRSP_stock.py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1.Common stocks: shrcd = 10, 11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2.Exchanges: exchcd = 1, 2, 3 (NYSE / NASDAQ / AMEX)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src/pull_ravenpack_dj.py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1.relevance = 100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2.event_similarity_days &gt; 90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3.Only CRSP-listed stocks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Exclude stock-gain / stock-loss categories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3780" y="-52968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D</a:t>
            </a:r>
            <a:endParaRPr lang="en-US" altLang="zh-CN" sz="1600"/>
          </a:p>
        </p:txBody>
      </p:sp>
      <p:sp>
        <p:nvSpPr>
          <p:cNvPr id="5" name="文本框 4"/>
          <p:cNvSpPr txBox="1"/>
          <p:nvPr/>
        </p:nvSpPr>
        <p:spPr>
          <a:xfrm>
            <a:off x="4571365" y="877570"/>
            <a:ext cx="3391535" cy="2291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src/pull_TAQ_intraday.py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1.Aggregated to 1-minute frequency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2.Use last best_bid / best_ask each minute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3.Mid-price = midpoint of bid–ask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4.Trading hours: 09:30–16:00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5.Only stocks with intraday news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782800" y="4093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Data Cleaning </a:t>
            </a:r>
            <a:endParaRPr lang="en-GB"/>
          </a:p>
        </p:txBody>
      </p:sp>
      <p:sp>
        <p:nvSpPr>
          <p:cNvPr id="164" name="Google Shape;164;p18"/>
          <p:cNvSpPr txBox="1"/>
          <p:nvPr/>
        </p:nvSpPr>
        <p:spPr>
          <a:xfrm>
            <a:off x="916305" y="996315"/>
            <a:ext cx="2895600" cy="343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src/clean_crsp_daily.py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1.Price: abs(closeprc)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2.Compute market cap (mktcap)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src/clean_ravenpack_firmday.py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1: Aggregate to firm-day </a:t>
            </a:r>
            <a:r>
              <a:rPr lang="en-US" altLang="en-US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→</a:t>
            </a: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news_firmday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2: Build intraday stories, label is_intraday, compute t15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Step 3: Remove similar titles by (ticker, date)(Damerau–Levenshtein )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11905" y="1072515"/>
            <a:ext cx="4572000" cy="1491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src/clean_taq_nbbo_minute.p</a:t>
            </a:r>
            <a:r>
              <a:rPr lang="en-US" alt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endParaRPr lang="en-US" alt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1.Merge nbbo_*.parquet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2.Generate ticker = sym_root + sym_suffix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3.Output: date, ticker, minute_ts, mid</a:t>
            </a:r>
            <a:endParaRPr lang="en-US" altLang="zh-CN"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819150" y="6446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ChatGPT Sentiment Labeling </a:t>
            </a:r>
            <a:endParaRPr lang="en-GB"/>
          </a:p>
        </p:txBody>
      </p:sp>
      <p:sp>
        <p:nvSpPr>
          <p:cNvPr id="170" name="Google Shape;170;p19"/>
          <p:cNvSpPr txBox="1"/>
          <p:nvPr/>
        </p:nvSpPr>
        <p:spPr>
          <a:xfrm>
            <a:off x="895985" y="1232535"/>
            <a:ext cx="301752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src/label_headlines_gpt_batch.</a:t>
            </a:r>
            <a:r>
              <a:rPr lang="en-US" alt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</a:t>
            </a:r>
            <a:r>
              <a:rPr lang="en-GB" sz="1300" b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</a:t>
            </a:r>
            <a:endParaRPr lang="en-GB"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5985" y="1664335"/>
            <a:ext cx="4280535" cy="215709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1200"/>
              <a:t>Model:gpt-4o-mini via OpenAI Batch API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Task: classify each headline as short-term positive / negative / uncertain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Labels:YES / NO / UNKNOWN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Prompt: stock-price impact of each headline in the short run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Output:gpt_labels.parquet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Coverage: ~248K headlines, 2021.10 – 2024.12</a:t>
            </a:r>
            <a:endParaRPr lang="en-US" alt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363775" y="248970"/>
            <a:ext cx="5148900" cy="7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6. Data Exploration</a:t>
            </a:r>
            <a:endParaRPr lang="en-GB"/>
          </a:p>
        </p:txBody>
      </p:sp>
      <p:pic>
        <p:nvPicPr>
          <p:cNvPr id="176" name="Google Shape;176;p20" title="Screenshot 2026-03-13 at 4.20.40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98375" y="1593275"/>
            <a:ext cx="3769249" cy="11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131000" y="1128400"/>
            <a:ext cx="2193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 panose="020F0502020204030204"/>
              <a:buAutoNum type="arabicPeriod"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CRSP Dataset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261215" y="2829325"/>
            <a:ext cx="1599600" cy="3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TAQ Dataset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9" name="Google Shape;179;p20" title="Screenshot 2026-03-13 at 4.22.05 AM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98363" y="3177625"/>
            <a:ext cx="3164925" cy="17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512675" y="1044525"/>
            <a:ext cx="2193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Ravenpack Dataset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1" name="Google Shape;181;p20" title="Screenshot 2026-03-13 at 4.22.54 AM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248425" y="1485024"/>
            <a:ext cx="2679975" cy="15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title="Screenshot 2026-03-13 at 4.23.25 AM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390700" y="3324100"/>
            <a:ext cx="2584100" cy="16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34700" y="2999575"/>
            <a:ext cx="22401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4. GPT Labels Dataset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13255" y="729850"/>
            <a:ext cx="1935900" cy="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data_exploration.py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body" idx="1"/>
          </p:nvPr>
        </p:nvSpPr>
        <p:spPr>
          <a:xfrm>
            <a:off x="494800" y="438325"/>
            <a:ext cx="7131300" cy="4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replication_tour.ipynb</a:t>
            </a:r>
            <a:endParaRPr lang="en-GB" b="1"/>
          </a:p>
        </p:txBody>
      </p:sp>
      <p:sp>
        <p:nvSpPr>
          <p:cNvPr id="190" name="Google Shape;190;p21"/>
          <p:cNvSpPr txBox="1"/>
          <p:nvPr/>
        </p:nvSpPr>
        <p:spPr>
          <a:xfrm>
            <a:off x="494800" y="1792500"/>
            <a:ext cx="8343600" cy="49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Purpose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Provide a </a:t>
            </a:r>
            <a:r>
              <a:rPr lang="en-GB" sz="1200" b="1"/>
              <a:t>guided walkthrough of the replication workflow</a:t>
            </a:r>
            <a:r>
              <a:rPr lang="en-GB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Demonstrate how </a:t>
            </a:r>
            <a:r>
              <a:rPr lang="en-GB" sz="1200" b="1"/>
              <a:t>cleaned datasets are prepared and integrated</a:t>
            </a:r>
            <a:r>
              <a:rPr lang="en-GB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Show how </a:t>
            </a:r>
            <a:r>
              <a:rPr lang="en-GB" sz="1200" b="1"/>
              <a:t>news sentiment, market data, and returns are combined</a:t>
            </a:r>
            <a:r>
              <a:rPr lang="en-GB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Illustrate the steps used to </a:t>
            </a:r>
            <a:r>
              <a:rPr lang="en-GB" sz="1200" b="1"/>
              <a:t>construct trading portfolios</a:t>
            </a:r>
            <a:r>
              <a:rPr lang="en-GB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/>
              <a:t>Present how the code </a:t>
            </a:r>
            <a:r>
              <a:rPr lang="en-GB" sz="1200" b="1"/>
              <a:t>generates the main empirical results</a:t>
            </a:r>
            <a:r>
              <a:rPr lang="en-GB" sz="1200"/>
              <a:t> (tables and figures).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673275" y="276350"/>
            <a:ext cx="6081000" cy="7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Portfolio Construction (Table 1)  </a:t>
            </a:r>
            <a:endParaRPr lang="en-GB"/>
          </a:p>
        </p:txBody>
      </p:sp>
      <p:sp>
        <p:nvSpPr>
          <p:cNvPr id="196" name="Google Shape;196;p22"/>
          <p:cNvSpPr txBox="1"/>
          <p:nvPr/>
        </p:nvSpPr>
        <p:spPr>
          <a:xfrm>
            <a:off x="673275" y="1384775"/>
            <a:ext cx="7953900" cy="3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/>
              <a:t>1. Separate News Types</a:t>
            </a:r>
            <a:endParaRPr sz="1100" b="1"/>
          </a:p>
          <a:p>
            <a:pPr marL="457200" lvl="0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Divide headlines into </a:t>
            </a:r>
            <a:r>
              <a:rPr lang="en-GB" sz="1100" b="1"/>
              <a:t>overnight news</a:t>
            </a:r>
            <a:r>
              <a:rPr lang="en-GB" sz="1100"/>
              <a:t> and </a:t>
            </a:r>
            <a:r>
              <a:rPr lang="en-GB" sz="1100" b="1"/>
              <a:t>intraday news</a:t>
            </a:r>
            <a:r>
              <a:rPr lang="en-GB" sz="1100"/>
              <a:t>.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100" b="1"/>
              <a:t>2. Merge with Market Data</a:t>
            </a:r>
            <a:endParaRPr sz="1100" b="1"/>
          </a:p>
          <a:p>
            <a:pPr marL="457200" lvl="0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Merge headlines with </a:t>
            </a:r>
            <a:r>
              <a:rPr lang="en-GB" sz="1100" b="1"/>
              <a:t>CRSP daily prices</a:t>
            </a:r>
            <a:r>
              <a:rPr lang="en-GB" sz="1100"/>
              <a:t> and </a:t>
            </a:r>
            <a:r>
              <a:rPr lang="en-GB" sz="1100" b="1"/>
              <a:t>TAQ intraday quotes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Compute key return measures:</a:t>
            </a:r>
            <a:endParaRPr sz="1100"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Initial Reaction</a:t>
            </a:r>
            <a:r>
              <a:rPr lang="en-GB" sz="1100"/>
              <a:t> – immediate market response to news</a:t>
            </a:r>
            <a:endParaRPr sz="1100"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Drift</a:t>
            </a:r>
            <a:r>
              <a:rPr lang="en-GB" sz="1100"/>
              <a:t> – subsequent price movement after the initial reaction.</a:t>
            </a:r>
            <a:endParaRPr sz="11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3. </a:t>
            </a:r>
            <a:r>
              <a:rPr lang="en-GB" sz="1100" b="1"/>
              <a:t>Generate Trading Signals</a:t>
            </a:r>
            <a:endParaRPr sz="1100" b="1"/>
          </a:p>
          <a:p>
            <a:pPr marL="457200" lvl="0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Use </a:t>
            </a:r>
            <a:r>
              <a:rPr lang="en-GB" sz="1100" b="1"/>
              <a:t>ChatGPT sentiment labels</a:t>
            </a:r>
            <a:r>
              <a:rPr lang="en-GB" sz="1100"/>
              <a:t>: Positive → </a:t>
            </a:r>
            <a:r>
              <a:rPr lang="en-GB" sz="1100" b="1"/>
              <a:t>Long position; </a:t>
            </a:r>
            <a:r>
              <a:rPr lang="en-GB" sz="1100"/>
              <a:t>Negative → </a:t>
            </a:r>
            <a:r>
              <a:rPr lang="en-GB" sz="1100" b="1"/>
              <a:t>Short position; </a:t>
            </a:r>
            <a:r>
              <a:rPr lang="en-GB" sz="1100"/>
              <a:t>Neutral</a:t>
            </a:r>
            <a:r>
              <a:rPr lang="en-GB" sz="1100"/>
              <a:t> </a:t>
            </a:r>
            <a:r>
              <a:rPr lang="en-GB" sz="1100"/>
              <a:t>→  </a:t>
            </a:r>
            <a:r>
              <a:rPr lang="en-GB" sz="1100" b="1"/>
              <a:t>Ignored</a:t>
            </a:r>
            <a:endParaRPr sz="1100" b="1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100" b="1"/>
              <a:t>4. Construct Portfolios</a:t>
            </a:r>
            <a:endParaRPr sz="1100" b="1"/>
          </a:p>
          <a:p>
            <a:pPr marL="457200" lvl="0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Long–Short Portfolio, Long-Only Portfolio, Short-Only Portfolio</a:t>
            </a:r>
            <a:endParaRPr sz="1100" b="1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1100" b="1"/>
              <a:t>5. Compute Performance Metrics</a:t>
            </a:r>
            <a:endParaRPr sz="1100"/>
          </a:p>
          <a:p>
            <a:pPr marL="457200" lvl="0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Hit Rate, Mean Return, Sharpe Ratio</a:t>
            </a:r>
            <a:endParaRPr sz="1100" b="1"/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858025" y="851525"/>
            <a:ext cx="29571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src/compute_portfolio_performance.py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3" title="Screenshot 2026-03-12 at 11.00.05 P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3975" y="1987000"/>
            <a:ext cx="3793450" cy="228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641550" y="1503675"/>
            <a:ext cx="1349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</a:t>
            </a: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Table 1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635300" y="225100"/>
            <a:ext cx="2610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Replicated Table 1 （strict filtering)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5" name="Google Shape;205;p23" title="Screenshot 2026-03-12 at 11.02.51 PM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235175" y="529000"/>
            <a:ext cx="4685650" cy="202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>
            <p:ph type="title"/>
          </p:nvPr>
        </p:nvSpPr>
        <p:spPr>
          <a:xfrm>
            <a:off x="561475" y="696550"/>
            <a:ext cx="6285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Table 1 Replication Results</a:t>
            </a:r>
            <a:endParaRPr sz="1500"/>
          </a:p>
        </p:txBody>
      </p:sp>
      <p:sp>
        <p:nvSpPr>
          <p:cNvPr id="207" name="Google Shape;207;p23"/>
          <p:cNvSpPr txBox="1"/>
          <p:nvPr/>
        </p:nvSpPr>
        <p:spPr>
          <a:xfrm>
            <a:off x="4635300" y="2519975"/>
            <a:ext cx="24837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Replicated Table 1* 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283675" y="2823875"/>
            <a:ext cx="4588651" cy="20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327675" y="311650"/>
            <a:ext cx="7539300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Unit Test</a:t>
            </a:r>
            <a:endParaRPr sz="1500"/>
          </a:p>
        </p:txBody>
      </p:sp>
      <p:sp>
        <p:nvSpPr>
          <p:cNvPr id="214" name="Google Shape;214;p24"/>
          <p:cNvSpPr txBox="1"/>
          <p:nvPr/>
        </p:nvSpPr>
        <p:spPr>
          <a:xfrm>
            <a:off x="4455075" y="1111950"/>
            <a:ext cx="6610800" cy="14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/>
              <a:t>Potential Issues:</a:t>
            </a:r>
            <a:endParaRPr sz="10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/>
              <a:t>Sharpe ratios drop significantly,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/>
              <a:t>Some short-only portfolio profits reverse sign.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/>
              <a:t>The replication uses fewer firm-day observations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79150" y="675675"/>
            <a:ext cx="30294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src/test_table1_replication.py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327675" y="1024650"/>
            <a:ext cx="4127400" cy="4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/>
              <a:t>Purpose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Verify that the replicated results are </a:t>
            </a:r>
            <a:r>
              <a:rPr lang="en-GB" sz="1000" b="1"/>
              <a:t>consistent with the original paper’s Table 1</a:t>
            </a:r>
            <a:r>
              <a:rPr lang="en-GB" sz="1000"/>
              <a:t>.</a:t>
            </a:r>
            <a:endParaRPr sz="10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 b="1"/>
              <a:t>Testing Approach</a:t>
            </a:r>
            <a:endParaRPr sz="1000" b="1"/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 b="1"/>
              <a:t>Reference Benchmarks</a:t>
            </a:r>
            <a:endParaRPr sz="1000" b="1"/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Store the original paper’s metrics (hit rate, mean return, Sharpe ratio).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 b="1"/>
              <a:t>Compute Replicated Metrics</a:t>
            </a:r>
            <a:endParaRPr sz="1000" b="1"/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Run _compute_metrics() to generate portfolio performance results.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 b="1"/>
              <a:t>Metric Comparison</a:t>
            </a:r>
            <a:endParaRPr sz="1000" b="1"/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Compare replicated values with paper values</a:t>
            </a:r>
            <a:endParaRPr sz="1000" b="1"/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Test both </a:t>
            </a:r>
            <a:r>
              <a:rPr lang="en-GB" sz="1000" b="1"/>
              <a:t>Overnight News</a:t>
            </a:r>
            <a:r>
              <a:rPr lang="en-GB" sz="1000"/>
              <a:t> and </a:t>
            </a:r>
            <a:r>
              <a:rPr lang="en-GB" sz="1000" b="1"/>
              <a:t>Intraday News</a:t>
            </a:r>
            <a:r>
              <a:rPr lang="en-GB" sz="1000"/>
              <a:t>.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 b="1"/>
              <a:t>Tolerance Thresholds</a:t>
            </a:r>
            <a:endParaRPr sz="1000" b="1"/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Allow small differences due to data variation:</a:t>
            </a:r>
            <a:endParaRPr sz="1000"/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Hit Rate tolerance: </a:t>
            </a:r>
            <a:r>
              <a:rPr lang="en-GB" sz="1000" b="1"/>
              <a:t>±8%</a:t>
            </a:r>
            <a:endParaRPr sz="1000" b="1"/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Mean Return tolerance: </a:t>
            </a:r>
            <a:r>
              <a:rPr lang="en-GB" sz="1000" b="1"/>
              <a:t>±0.8%</a:t>
            </a:r>
            <a:endParaRPr sz="1000" b="1"/>
          </a:p>
          <a:p>
            <a:pPr marL="137160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GB" sz="1000"/>
              <a:t>Sharpe Ratio tolerance: </a:t>
            </a:r>
            <a:r>
              <a:rPr lang="en-GB" sz="1000" b="1"/>
              <a:t>±2.6</a:t>
            </a:r>
            <a:endParaRPr sz="1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17" name="Google Shape;217;p24" title="Screenshot 2026-03-13 at 12.38.52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917875" y="4303475"/>
            <a:ext cx="4952700" cy="4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599350" y="323550"/>
            <a:ext cx="6489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8. Strategy Evaluation (Figure 5)</a:t>
            </a:r>
            <a:endParaRPr lang="en-GB"/>
          </a:p>
        </p:txBody>
      </p:sp>
      <p:sp>
        <p:nvSpPr>
          <p:cNvPr id="223" name="Google Shape;223;p25"/>
          <p:cNvSpPr txBox="1"/>
          <p:nvPr/>
        </p:nvSpPr>
        <p:spPr>
          <a:xfrm>
            <a:off x="599350" y="897700"/>
            <a:ext cx="43779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src/graph_trading_strategy.py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99350" y="1300700"/>
            <a:ext cx="84168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1. Prepare Overnight News Sample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2. Merge News with Stock Data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Match headlines with </a:t>
            </a:r>
            <a:r>
              <a:rPr lang="en-GB" sz="1100" b="1"/>
              <a:t>CRSP daily prices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Further</a:t>
            </a:r>
            <a:r>
              <a:rPr lang="en-GB" sz="1100"/>
              <a:t> split into pre-market news and after-market news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Compute tradable returns using: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Same-day return</a:t>
            </a:r>
            <a:r>
              <a:rPr lang="en-GB" sz="1100"/>
              <a:t> for pre-market news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Next-day return</a:t>
            </a:r>
            <a:r>
              <a:rPr lang="en-GB" sz="1100"/>
              <a:t> for after-market news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3. Construct Strategy Variants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Long–Short Portfolio</a:t>
            </a:r>
            <a:r>
              <a:rPr lang="en-GB" sz="1100"/>
              <a:t>: long positive news, short negative news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Price &gt; 5 Portfolio</a:t>
            </a:r>
            <a:r>
              <a:rPr lang="en-GB" sz="1100"/>
              <a:t>: exclude low-price stocks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 b="1"/>
              <a:t>Market Portfolio</a:t>
            </a:r>
            <a:r>
              <a:rPr lang="en-GB" sz="1100"/>
              <a:t>: value-weighted benchmark using lagged market cap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4. Compute Cumulative Returns</a:t>
            </a: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/>
              <a:t>5. Plot Figure 5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267425" y="297450"/>
            <a:ext cx="6285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Table 5 Replication Results</a:t>
            </a:r>
            <a:endParaRPr sz="1500"/>
          </a:p>
        </p:txBody>
      </p:sp>
      <p:pic>
        <p:nvPicPr>
          <p:cNvPr id="230" name="Google Shape;230;p26" title="Screenshot 2026-03-13 at 1.00.41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89300" y="228000"/>
            <a:ext cx="3921551" cy="23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 txBox="1"/>
          <p:nvPr/>
        </p:nvSpPr>
        <p:spPr>
          <a:xfrm>
            <a:off x="381600" y="1230200"/>
            <a:ext cx="2880300" cy="1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/>
              <a:t>Potential Issues:</a:t>
            </a:r>
            <a:endParaRPr sz="10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/>
              <a:t>More volatile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GB" sz="1000"/>
              <a:t>Greater maximum drawdown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2" name="Google Shape;232;p26" title="Screenshot 2026-03-13 at 1.02.54 AM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958387" y="2571750"/>
            <a:ext cx="3383375" cy="22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3261900" y="297450"/>
            <a:ext cx="1521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</a:t>
            </a: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Figure 5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3212700" y="2571750"/>
            <a:ext cx="15705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Replicated</a:t>
            </a: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Figure 5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819150" y="27652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9. Reproduce Results </a:t>
            </a:r>
            <a:endParaRPr lang="en-GB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75335"/>
            <a:ext cx="4599305" cy="16979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6520"/>
            <a:ext cx="4764405" cy="20993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71210" y="1134110"/>
            <a:ext cx="24536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100"/>
              <a:t>Here, we selected the data from October 1, 2021 to December 31, 2025. The final result is similar to the pattern in the paper.</a:t>
            </a:r>
            <a:endParaRPr lang="zh-CN" alt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480025" y="40277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9. Final Report</a:t>
            </a:r>
            <a:endParaRPr lang="en-GB"/>
          </a:p>
        </p:txBody>
      </p:sp>
      <p:sp>
        <p:nvSpPr>
          <p:cNvPr id="245" name="Google Shape;245;p28"/>
          <p:cNvSpPr txBox="1"/>
          <p:nvPr/>
        </p:nvSpPr>
        <p:spPr>
          <a:xfrm>
            <a:off x="631525" y="1083275"/>
            <a:ext cx="21972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replication_report.tex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replication_report.pdf</a:t>
            </a: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p28" title="Screenshot 2026-03-13 at 1.14.35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522675" y="1142925"/>
            <a:ext cx="5149649" cy="19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>
            <p:ph type="title"/>
          </p:nvPr>
        </p:nvSpPr>
        <p:spPr>
          <a:xfrm>
            <a:off x="747000" y="412625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10. </a:t>
            </a:r>
            <a:r>
              <a:rPr lang="en-GB"/>
              <a:t>Success</a:t>
            </a:r>
            <a:r>
              <a:rPr lang="en-GB"/>
              <a:t> and Difficulties</a:t>
            </a:r>
            <a:endParaRPr lang="en-GB"/>
          </a:p>
        </p:txBody>
      </p:sp>
      <p:sp>
        <p:nvSpPr>
          <p:cNvPr id="252" name="Google Shape;252;p29"/>
          <p:cNvSpPr txBox="1"/>
          <p:nvPr>
            <p:ph type="body" idx="1"/>
          </p:nvPr>
        </p:nvSpPr>
        <p:spPr>
          <a:xfrm>
            <a:off x="819150" y="164867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Success</a:t>
            </a:r>
            <a:r>
              <a:rPr lang="en-GB"/>
              <a:t>:</a:t>
            </a:r>
            <a:endParaRPr lang="en-GB"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Ssh  Midway 3 </a:t>
            </a:r>
            <a:r>
              <a:rPr lang="en-US" altLang="en-GB"/>
              <a:t>to clean TAQ</a:t>
            </a:r>
            <a:endParaRPr lang="en-GB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en-GB"/>
              <a:t>Use polars to process data successfully</a:t>
            </a:r>
            <a:endParaRPr lang="en-GB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zh-CN"/>
              <a:t>From CRSP, RavenPack, TAQ to GPT labels, and then to performance tables and charts, a reproducible empirical process is formed.</a:t>
            </a:r>
            <a:endParaRPr lang="en-US" altLang="zh-CN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Difficulties: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zh-CN"/>
              <a:t>The maximum available date for CRSP's data is only up to December 31, 2024. Besides, the actual test cases provided for us to run in the paper are relatively few.</a:t>
            </a:r>
            <a:endParaRPr lang="en-US" altLang="zh-CN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zh-CN"/>
              <a:t>Processing data locally has high requirements for running memory.</a:t>
            </a:r>
            <a:endParaRPr lang="en-US" altLang="zh-CN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zh-CN"/>
              <a:t>The data required for this project is particularly large.</a:t>
            </a:r>
            <a:endParaRPr lang="en-US" altLang="zh-CN"/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altLang="zh-CN"/>
              <a:t>The data path conflicts frequently after uploading to GitHub.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1302625" y="209445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</a:t>
            </a:r>
            <a:r>
              <a:rPr lang="en-GB"/>
              <a:t> you!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5843</Words>
  <Application>WPS 演示</Application>
  <PresentationFormat/>
  <Paragraphs>269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Nunito</vt:lpstr>
      <vt:lpstr>Calibri</vt:lpstr>
      <vt:lpstr>微软雅黑</vt:lpstr>
      <vt:lpstr>Arial Unicode MS</vt:lpstr>
      <vt:lpstr>Shift</vt:lpstr>
      <vt:lpstr>Can ChatGPT Forecast Stock Price Movements? Return Predictability and Large Language Model </vt:lpstr>
      <vt:lpstr>Content</vt:lpstr>
      <vt:lpstr>Introduction </vt:lpstr>
      <vt:lpstr>2. Workflow (dodo.py)</vt:lpstr>
      <vt:lpstr>3. Data Collection </vt:lpstr>
      <vt:lpstr>4. Data Cleaning </vt:lpstr>
      <vt:lpstr>5. ChatGPT Sentiment Labeling </vt:lpstr>
      <vt:lpstr>6. Data Exploration</vt:lpstr>
      <vt:lpstr>PowerPoint 演示文稿</vt:lpstr>
      <vt:lpstr>7. Portfolio Construction (Table 1)  </vt:lpstr>
      <vt:lpstr>Table 1 Replication Results</vt:lpstr>
      <vt:lpstr>Unit Test</vt:lpstr>
      <vt:lpstr>8. Strategy Evaluation (Figure 5)</vt:lpstr>
      <vt:lpstr>Table 5 Replication Results</vt:lpstr>
      <vt:lpstr>9. Reproduce Results </vt:lpstr>
      <vt:lpstr>9. Final Report</vt:lpstr>
      <vt:lpstr>10. Success and Difficulties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ChatGPT Forecast Stock Price Movements? Return Predictability and Large Language Model </dc:title>
  <dc:creator/>
  <cp:lastModifiedBy>hooder</cp:lastModifiedBy>
  <cp:revision>2</cp:revision>
  <dcterms:created xsi:type="dcterms:W3CDTF">2026-03-14T02:25:00Z</dcterms:created>
  <dcterms:modified xsi:type="dcterms:W3CDTF">2026-03-14T07:22:07Z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73F954FF27654811A3C75E767ECD55E3_12</vt:lpwstr>
  </property>
</Properties>
</file>